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73" r:id="rId4"/>
    <p:sldId id="257" r:id="rId5"/>
    <p:sldId id="274" r:id="rId6"/>
    <p:sldId id="260" r:id="rId7"/>
    <p:sldId id="258" r:id="rId8"/>
    <p:sldId id="259" r:id="rId9"/>
    <p:sldId id="262" r:id="rId10"/>
    <p:sldId id="261" r:id="rId11"/>
    <p:sldId id="264" r:id="rId12"/>
    <p:sldId id="263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430EC-092C-4F1F-BB26-F7AA59139E43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37BDE-149B-41AA-9173-20E2A4666B5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1250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CF86A-50DC-41FA-B847-B76D58C16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BY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F4D3B0-117B-4973-BDD0-C67E08AF6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BY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65C8D3-CFC1-4CE9-B97B-D3B1DC64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2631-0DE7-4C94-B00B-445B55BFFD86}" type="datetime1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8B23D-EE0E-4E68-BD9E-EB085AD7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F2F687-1CCC-4D97-9305-CE27461D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2898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E5556-B80D-4F29-B293-392CD1C2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6C3B72-52CB-492E-84BB-76F58BCA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CF011-193C-40AD-94BB-5113EAF8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1F516-F601-4A76-A0BE-F8C2548F1AB1}" type="datetime1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C4C36-7840-432B-AA84-53263B6F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E449C2-4DA7-447F-8152-42FBE899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4330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E6093-C7AE-460E-A129-106FF97A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89529F-9EA3-4A41-9F83-7697C70CD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5C0400-C5DA-4107-BA48-CA7B1C8D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C2257-274D-41BA-84EE-AE1A09A30CF9}" type="datetime1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9304D8-7E67-4A81-AEB8-3DF43B45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D54CB5-5710-4819-898E-6195778F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4814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0D46D-0189-491E-88B6-BAEB6322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8E4747-30F9-452F-A38B-1E4EFA6C6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92EAF9-DC72-4DB8-A925-C6C48A150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0E27CB-C71A-444A-96B7-17FB99F7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2805-3451-47E0-939D-6787A13E0848}" type="datetime1">
              <a:rPr lang="ru-BY" smtClean="0"/>
              <a:t>28.07.2026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A8938-F383-4F82-97F3-AF8ABEFD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70939F-90DA-4C29-9266-AF4A490E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48171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D96F4-C099-47CA-923A-DE41603B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C199A-E74C-4720-A4C1-5F48FA40C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C33D0E-A9CF-469F-9A29-BEE011B3B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F99E89-71B8-4B56-86D3-66DF3E612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5F5A9B-583C-41A3-B5FA-3B882E9B4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2EACAB7-BBC8-4575-AEA3-6C7C2FF9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1EACF-C024-4291-8C39-A8006E1ABF1C}" type="datetime1">
              <a:rPr lang="ru-BY" smtClean="0"/>
              <a:t>28.07.2026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26A9F34-3131-402C-9545-E719CD17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C334AA-CD7E-4EF0-8767-DAF136DA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0743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CACA5-1DA3-4C5B-9CA8-C6A5818F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1A17F9-C0F4-40B7-B885-06077904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83D24-6888-40B8-9456-B3C308A77110}" type="datetime1">
              <a:rPr lang="ru-BY" smtClean="0"/>
              <a:t>28.07.2026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BA5DE6-3135-41CC-A504-03574995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FE4D76-ED77-47FB-A85E-F3315374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2402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B529A0-5E36-448E-9A8A-F9F9C8ED5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484C-0200-4024-9AA1-A8634FDD9907}" type="datetime1">
              <a:rPr lang="ru-BY" smtClean="0"/>
              <a:t>28.07.2026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892331-82DE-4A83-B639-A0527DF2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59518F-3E90-4E6D-9292-6FFB514B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026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7B234-C2A5-4B07-BB42-6DF6CEC0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409ED5-23E8-4A27-A64E-F0F52AACA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8F0F80-54E8-4647-9CAF-F156995DF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7277FC-271E-4C26-BE01-14E01CCC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7A5-4202-4593-BAAB-A37765397114}" type="datetime1">
              <a:rPr lang="ru-BY" smtClean="0"/>
              <a:t>28.07.2026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65B01B-CD9B-4FC0-ADAB-2257CD21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D14F5C-BFB3-478C-BDE7-BA1AE12A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7455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83FE5-9B1A-47D8-9C70-32C600D8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75485E-8A8B-41D8-B6FA-6B1307883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36F4C9-5C81-4275-B729-A789BBB57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A41DC9-E7CC-4F4A-9F32-7820F31C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3A910-452F-4093-BE1C-50D0DD446664}" type="datetime1">
              <a:rPr lang="ru-BY" smtClean="0"/>
              <a:t>28.07.2026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46C74A-7F40-4AE0-A1C6-16543592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803CE0-53E7-44CF-BE0C-5F0E9765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11407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D20C4-E51C-4063-BAF8-B31B4459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7C0426-79A5-47CF-9371-17907EE09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FB9004-4FE0-4B65-87B6-DAAA3879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FE49-E4CB-40BC-9367-B1620672EE6A}" type="datetime1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D69E25-411E-4787-94D2-441251D2F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E927F-6B81-4D4C-83D8-4E051618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4151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28993B-FE36-4410-8929-9ADF5E7E9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1EA9F3-5009-442E-848F-198EEACA1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A277B4-B9DD-47B1-A034-BB44DE1F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B067F-C904-49EA-8F56-BD167714985D}" type="datetime1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8B30A8-9581-4540-B9F2-718AAD06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21220D-A2E4-4E1A-9BDD-EBE6DA2C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6913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A4138-9864-4EFC-AEA6-B7B88525E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8842E7-D6DB-4265-A759-6508AAF69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5748F-C74B-4A6E-B664-5C8308C8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AD081-E05D-4CF1-95BD-13351A8A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E0131-9464-464B-B887-D2063E59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57528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DDEAE-7C23-4CFF-9B76-63873169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059C6-DC8F-4871-A316-5322E48D2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D68C15-6E64-49A1-B60C-B0354D1F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7030C6-4C62-46CD-8C1E-07492786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8AEEFA-98E5-45F9-BEB0-1EA7845E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38326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BCF52-EC84-4C74-BF73-D688870D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C36CD7-2CF7-4579-A0AC-F2768BF53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23AB87-077A-4004-9B04-3731DE91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0CDE02-B484-4E61-BB31-5D8AB35C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4CA9CC-C0A8-4A39-B4B0-BE78E301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7501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CB4D6-1645-4CAF-B908-E666E7F0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2BA70F-8CC1-43FF-8251-89FEF6B11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829198-8189-46FC-8FE9-5C90A53E4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4D9956-6915-434C-BEE2-1901D000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3ACEA8-7C30-43B7-AF74-EFD8E533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33B16C-8CA3-4878-914E-E459ACD5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33700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AF6F3-3502-42C7-9FC3-4D008C92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54C91B-67DE-4EB3-BE8D-EDC8577C9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56A023-9D7D-4921-B168-C4E607D67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8AF1F4-038A-45F0-9A7C-0B672E1F3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5D70AF-704B-4D00-B74D-0513AA643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E48B06-4E12-4644-84D6-7ACE5382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05725E-CC51-4A9B-8F5B-C9B63965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5FDF7B-6C67-4A5A-97A8-C5FE2735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52162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75DCA-9433-409F-BA20-0E3BF233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6896EE-61FF-44B1-9D98-0D5F9274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FA0B9C-02D8-4A5E-B7C3-8F6A882F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474669-2B5D-4A41-B8CF-DAE00061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15031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12F5FA-61AB-4653-894B-3F0B99C7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BA8413-0C12-4459-A9AD-289BCDC8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CF315A-8DA3-44D0-8A41-DF732136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228101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C5DBB-4F63-42EA-BC7B-F8B8EEA2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4CA6C6-0420-46D4-974B-31CBC986F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F1532F-AF09-4384-99C8-5AE3FAA44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93FD0D-2ACB-45DE-BEA6-0D6100E2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0AE5A3-46F5-45E1-9F29-318B61CE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C35C96-3D90-48A6-A97F-E3F10CF3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73636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12E80-8346-4E86-8A64-590E6C9B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988B4A-5B6E-4C3B-B1C4-C0DA99314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F24F94-B094-4256-AA79-B204E27B8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AD72D0-E157-447B-A567-6F3C41BD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32857E-8AB8-4D7C-9F94-705A3EAA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9B48B4-A87F-4907-83AC-E1765742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02955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98BA9-B4E6-43A9-8C99-3A5E1B43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05B582-8CF5-4A86-BBAE-4230AFB22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FCCB18-B108-4238-B40A-C569B554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244CB9-810B-43CE-8ABF-C0F32BD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08E3A0-D558-40AB-9B02-429D27D7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0960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BA1683A-E62A-4528-9682-C9D6B083B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734470-516B-4AAA-A41C-A90C60066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E54C5D-07AE-4F38-BDDD-E981EF84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CBBC50-25E3-4AA8-943B-398FB2AA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9C091F-E5D3-450F-A304-EB139BCB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65538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50E07-525E-430B-AF17-F8266AA5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01BF4DD-E4CC-46C5-B1A2-E4B8A81D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2F83FD-5B54-4248-A13E-B368BF90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68371A-6139-4383-A4E1-C063B792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7201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8908D-F94A-42F6-B754-F90F2D78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BY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D45235-E2CD-4C8B-BA47-61A1FCCC6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ru-BY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51A56-1F7B-4711-BA29-48F3BB432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0FE0A-CD9D-4D5A-961F-EBAE9A43F891}" type="datetime1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BDD39-5707-4131-8063-B70D0BE0C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87ECF2-6A58-41CF-B2FD-B7CB9080A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C0032-643D-4737-BE36-3D4D0BE7EA0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0900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A8E96-08AA-4C40-8904-BA72F170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FF3EB7-0E91-4C4C-8655-EAC53CCA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13671-4F06-40A3-8696-5B75D9295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E6EA6-7499-45A1-AE5B-7C59D3B51B9B}" type="datetimeFigureOut">
              <a:rPr lang="ru-BY" smtClean="0"/>
              <a:t>28.07.2026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13286-D2C8-4720-9565-1E5355847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371C7D-79E2-4714-B671-B76BA889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BF2FA-9A1F-460E-83CC-8126A925CEB4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437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DBEBC-ADA7-4EC6-B980-2D9B2C999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94733"/>
            <a:ext cx="12192000" cy="1883859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Анализ ключевых факторов, влияющих на стоимость подержанных автомобилей: проверка гипотез и визуализация данных</a:t>
            </a:r>
            <a:endParaRPr lang="ru-BY" sz="4000" b="1" dirty="0"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4B4632-588E-487A-AF98-02355E75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</a:t>
            </a:fld>
            <a:endParaRPr lang="ru-BY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21AD805-7C50-4D2A-B718-D868BB9BD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738" y="1689126"/>
            <a:ext cx="7296796" cy="484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2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57D95-743B-4ADD-A2F8-35025B4F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684" y="189958"/>
            <a:ext cx="10515600" cy="557742"/>
          </a:xfrm>
        </p:spPr>
        <p:txBody>
          <a:bodyPr>
            <a:normAutofit/>
          </a:bodyPr>
          <a:lstStyle/>
          <a:p>
            <a:pPr algn="ctr"/>
            <a:r>
              <a:rPr lang="ru-RU" sz="2600" dirty="0"/>
              <a:t>Описание исходных данных</a:t>
            </a:r>
            <a:endParaRPr lang="ru-BY" sz="2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24A721-86A5-406F-9BC9-BB1F4839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54" y="922869"/>
            <a:ext cx="11359661" cy="241854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Источник данных: открытый </a:t>
            </a:r>
            <a:r>
              <a:rPr lang="ru-RU" sz="1600" dirty="0" err="1">
                <a:solidFill>
                  <a:schemeClr val="tx1"/>
                </a:solidFill>
              </a:rPr>
              <a:t>датасет</a:t>
            </a:r>
            <a:r>
              <a:rPr lang="ru-RU" sz="1600" dirty="0">
                <a:solidFill>
                  <a:schemeClr val="tx1"/>
                </a:solidFill>
              </a:rPr>
              <a:t> с платформы </a:t>
            </a:r>
            <a:r>
              <a:rPr lang="en-US" sz="1600" dirty="0">
                <a:solidFill>
                  <a:schemeClr val="tx1"/>
                </a:solidFill>
              </a:rPr>
              <a:t>Kaggle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Объем выборки: исходно 4009 записей, после очистки и удаления выбросов — 3950 записей.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Ключевые признаки: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tx1"/>
                </a:solidFill>
              </a:rPr>
              <a:t>Числовые: цена (</a:t>
            </a:r>
            <a:r>
              <a:rPr lang="ru-RU" sz="1600" dirty="0" err="1">
                <a:solidFill>
                  <a:schemeClr val="tx1"/>
                </a:solidFill>
              </a:rPr>
              <a:t>price</a:t>
            </a:r>
            <a:r>
              <a:rPr lang="ru-RU" sz="1600" dirty="0">
                <a:solidFill>
                  <a:schemeClr val="tx1"/>
                </a:solidFill>
              </a:rPr>
              <a:t>), пробег (</a:t>
            </a:r>
            <a:r>
              <a:rPr lang="ru-RU" sz="1600" dirty="0" err="1">
                <a:solidFill>
                  <a:schemeClr val="tx1"/>
                </a:solidFill>
              </a:rPr>
              <a:t>milage</a:t>
            </a:r>
            <a:r>
              <a:rPr lang="ru-RU" sz="1600" dirty="0">
                <a:solidFill>
                  <a:schemeClr val="tx1"/>
                </a:solidFill>
              </a:rPr>
              <a:t>), год выпуска (</a:t>
            </a:r>
            <a:r>
              <a:rPr lang="ru-RU" sz="1600" dirty="0" err="1">
                <a:solidFill>
                  <a:schemeClr val="tx1"/>
                </a:solidFill>
              </a:rPr>
              <a:t>model_year</a:t>
            </a:r>
            <a:r>
              <a:rPr lang="ru-RU" sz="1600" dirty="0">
                <a:solidFill>
                  <a:schemeClr val="tx1"/>
                </a:solidFill>
              </a:rPr>
              <a:t>).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tx1"/>
                </a:solidFill>
              </a:rPr>
              <a:t>Категориальные: бренд (</a:t>
            </a:r>
            <a:r>
              <a:rPr lang="en-US" sz="1600" dirty="0">
                <a:solidFill>
                  <a:schemeClr val="tx1"/>
                </a:solidFill>
              </a:rPr>
              <a:t>brand), </a:t>
            </a:r>
            <a:r>
              <a:rPr lang="ru-RU" sz="1600" dirty="0">
                <a:solidFill>
                  <a:schemeClr val="tx1"/>
                </a:solidFill>
              </a:rPr>
              <a:t>модель (</a:t>
            </a:r>
            <a:r>
              <a:rPr lang="en-US" sz="1600" dirty="0">
                <a:solidFill>
                  <a:schemeClr val="tx1"/>
                </a:solidFill>
              </a:rPr>
              <a:t>model), </a:t>
            </a:r>
            <a:r>
              <a:rPr lang="ru-RU" sz="1600" dirty="0">
                <a:solidFill>
                  <a:schemeClr val="tx1"/>
                </a:solidFill>
              </a:rPr>
              <a:t>тип топлива (</a:t>
            </a:r>
            <a:r>
              <a:rPr lang="en-US" sz="1600" dirty="0" err="1">
                <a:solidFill>
                  <a:schemeClr val="tx1"/>
                </a:solidFill>
              </a:rPr>
              <a:t>fuel_type</a:t>
            </a:r>
            <a:r>
              <a:rPr lang="en-US" sz="1600" dirty="0">
                <a:solidFill>
                  <a:schemeClr val="tx1"/>
                </a:solidFill>
              </a:rPr>
              <a:t>), </a:t>
            </a:r>
            <a:r>
              <a:rPr lang="ru-RU" sz="1600" dirty="0">
                <a:solidFill>
                  <a:schemeClr val="tx1"/>
                </a:solidFill>
              </a:rPr>
              <a:t>коробка передач (</a:t>
            </a:r>
            <a:r>
              <a:rPr lang="en-US" sz="1600" dirty="0">
                <a:solidFill>
                  <a:schemeClr val="tx1"/>
                </a:solidFill>
              </a:rPr>
              <a:t>transmission), </a:t>
            </a:r>
            <a:r>
              <a:rPr lang="ru-RU" sz="1600" dirty="0">
                <a:solidFill>
                  <a:schemeClr val="tx1"/>
                </a:solidFill>
              </a:rPr>
              <a:t>состояние (</a:t>
            </a:r>
            <a:r>
              <a:rPr lang="en-US" sz="1600" dirty="0">
                <a:solidFill>
                  <a:schemeClr val="tx1"/>
                </a:solidFill>
              </a:rPr>
              <a:t>condition).</a:t>
            </a:r>
            <a:endParaRPr lang="ru-RU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Ключевой вывод: В ходе EDA было выявлено, что стоимость автомобиля существенно зависит от пробега и возраста. Основная масса автомобилей в </a:t>
            </a:r>
            <a:r>
              <a:rPr lang="ru-RU" sz="1600" dirty="0" err="1">
                <a:solidFill>
                  <a:schemeClr val="tx1"/>
                </a:solidFill>
              </a:rPr>
              <a:t>датасете</a:t>
            </a:r>
            <a:r>
              <a:rPr lang="ru-RU" sz="1600" dirty="0">
                <a:solidFill>
                  <a:schemeClr val="tx1"/>
                </a:solidFill>
              </a:rPr>
              <a:t> находится в ценовом диапазоне 15 000 – 40 000$.</a:t>
            </a:r>
          </a:p>
          <a:p>
            <a:endParaRPr lang="ru-BY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538EC5-D42C-4F22-9626-49125D5C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2</a:t>
            </a:fld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F4DC09-7918-4BE0-AAB5-5100AE4E7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91" y="3516585"/>
            <a:ext cx="8334811" cy="302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2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A760CE6-AB50-4C1B-BFE7-D234D6C4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0"/>
            <a:ext cx="11514666" cy="46990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600" dirty="0"/>
              <a:t>Мы выдвигаем и проверяем следующие исследовательские гипотезы:</a:t>
            </a:r>
            <a:endParaRPr lang="ru-BY" sz="26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DCA572-6FA9-41A4-AB94-E5592FB33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668" y="469899"/>
            <a:ext cx="11514665" cy="6251575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b="1" dirty="0">
                <a:solidFill>
                  <a:schemeClr val="tx1"/>
                </a:solidFill>
              </a:rPr>
              <a:t>1. Влияние пробега на цену зависит от бренда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solidFill>
                  <a:schemeClr val="tx1"/>
                </a:solidFill>
              </a:rPr>
              <a:t>Мы знаем, что пробег снижает цену. Но у всех ли брендов одинаково? Может, для бюджетных машин пробег — это приговор, а для премиальных (Porsche, BMW) — не так страшно?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u="sng" dirty="0">
                <a:solidFill>
                  <a:schemeClr val="tx1"/>
                </a:solidFill>
              </a:rPr>
              <a:t>Методы проверки: 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dirty="0">
                <a:solidFill>
                  <a:schemeClr val="tx1"/>
                </a:solidFill>
              </a:rPr>
              <a:t>Построить график «Цена </a:t>
            </a:r>
            <a:r>
              <a:rPr lang="ru-RU" sz="6400" dirty="0" err="1">
                <a:solidFill>
                  <a:schemeClr val="tx1"/>
                </a:solidFill>
              </a:rPr>
              <a:t>vs</a:t>
            </a:r>
            <a:r>
              <a:rPr lang="ru-RU" sz="6400" dirty="0">
                <a:solidFill>
                  <a:schemeClr val="tx1"/>
                </a:solidFill>
              </a:rPr>
              <a:t> Пробег» (точечный), но разбить его на отдельные маленькие графики для топ-5 брендов (</a:t>
            </a:r>
            <a:r>
              <a:rPr lang="ru-RU" sz="6400" dirty="0" err="1">
                <a:solidFill>
                  <a:schemeClr val="tx1"/>
                </a:solidFill>
              </a:rPr>
              <a:t>Facet</a:t>
            </a:r>
            <a:r>
              <a:rPr lang="ru-RU" sz="6400" dirty="0">
                <a:solidFill>
                  <a:schemeClr val="tx1"/>
                </a:solidFill>
              </a:rPr>
              <a:t> Grid). Мы увидим, у кого падение крутое, а у кого — пологое.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dirty="0">
                <a:solidFill>
                  <a:schemeClr val="tx1"/>
                </a:solidFill>
              </a:rPr>
              <a:t>Групповая корреляция Пирсона по топ-6 брендам (отдельно для каждого). Сравнение коэффициентов r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64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b="1" dirty="0">
                <a:solidFill>
                  <a:schemeClr val="tx1"/>
                </a:solidFill>
              </a:rPr>
              <a:t>2.</a:t>
            </a:r>
            <a:r>
              <a:rPr lang="en-US" sz="6400" b="1" dirty="0">
                <a:solidFill>
                  <a:schemeClr val="tx1"/>
                </a:solidFill>
              </a:rPr>
              <a:t> </a:t>
            </a:r>
            <a:r>
              <a:rPr lang="ru-RU" sz="6400" b="1" dirty="0">
                <a:solidFill>
                  <a:schemeClr val="tx1"/>
                </a:solidFill>
              </a:rPr>
              <a:t>Электромобили имеют: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b="1" dirty="0">
                <a:solidFill>
                  <a:schemeClr val="tx1"/>
                </a:solidFill>
              </a:rPr>
              <a:t>более узкий ценовой разброс 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b="1" dirty="0">
                <a:solidFill>
                  <a:schemeClr val="tx1"/>
                </a:solidFill>
              </a:rPr>
              <a:t>меньший пробег на вторичном рынке,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b="1" dirty="0">
                <a:solidFill>
                  <a:schemeClr val="tx1"/>
                </a:solidFill>
              </a:rPr>
              <a:t>чем бензиновые автомобили</a:t>
            </a:r>
            <a:r>
              <a:rPr lang="ru-RU" sz="6400" b="1" u="sng" dirty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u="sng" dirty="0">
                <a:solidFill>
                  <a:schemeClr val="tx1"/>
                </a:solidFill>
              </a:rPr>
              <a:t>Методы проверки: 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dirty="0">
                <a:solidFill>
                  <a:schemeClr val="tx1"/>
                </a:solidFill>
              </a:rPr>
              <a:t>Выбрать машины одного возраста (например, 2020–2022 года), разделить их на Electric и </a:t>
            </a:r>
            <a:r>
              <a:rPr lang="ru-RU" sz="6400" dirty="0" err="1">
                <a:solidFill>
                  <a:schemeClr val="tx1"/>
                </a:solidFill>
              </a:rPr>
              <a:t>Gasoline</a:t>
            </a:r>
            <a:r>
              <a:rPr lang="ru-RU" sz="6400" dirty="0">
                <a:solidFill>
                  <a:schemeClr val="tx1"/>
                </a:solidFill>
              </a:rPr>
              <a:t>, и сравнить их среднюю цену и пробег.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dirty="0">
                <a:solidFill>
                  <a:schemeClr val="tx1"/>
                </a:solidFill>
              </a:rPr>
              <a:t>Независимый T-Test для сравнения средних цен и пробега между группами Electric и </a:t>
            </a:r>
            <a:r>
              <a:rPr lang="ru-RU" sz="6400" dirty="0" err="1">
                <a:solidFill>
                  <a:schemeClr val="tx1"/>
                </a:solidFill>
              </a:rPr>
              <a:t>Gasoline</a:t>
            </a:r>
            <a:r>
              <a:rPr lang="ru-RU" sz="64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64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b="1" dirty="0">
                <a:solidFill>
                  <a:schemeClr val="tx1"/>
                </a:solidFill>
              </a:rPr>
              <a:t>3. Автомобили с автоматической коробкой передач дороже механических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dirty="0">
                <a:solidFill>
                  <a:schemeClr val="tx1"/>
                </a:solidFill>
              </a:rPr>
              <a:t>Рынок часто переплачивает за удобство. Насколько велика эта разница? Действительно ли "автомат" всегда дороже?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ru-RU" sz="6400" u="sng" dirty="0">
                <a:solidFill>
                  <a:schemeClr val="tx1"/>
                </a:solidFill>
              </a:rPr>
              <a:t>Методы проверки: 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dirty="0">
                <a:solidFill>
                  <a:schemeClr val="tx1"/>
                </a:solidFill>
              </a:rPr>
              <a:t>Построить </a:t>
            </a:r>
            <a:r>
              <a:rPr lang="ru-RU" sz="6400" dirty="0" err="1">
                <a:solidFill>
                  <a:schemeClr val="tx1"/>
                </a:solidFill>
              </a:rPr>
              <a:t>Boxplot</a:t>
            </a:r>
            <a:r>
              <a:rPr lang="ru-RU" sz="6400" dirty="0">
                <a:solidFill>
                  <a:schemeClr val="tx1"/>
                </a:solidFill>
              </a:rPr>
              <a:t>, где по оси Y — цена, а по оси X — тип коробки (</a:t>
            </a:r>
            <a:r>
              <a:rPr lang="ru-RU" sz="6400" dirty="0" err="1">
                <a:solidFill>
                  <a:schemeClr val="tx1"/>
                </a:solidFill>
              </a:rPr>
              <a:t>transmission</a:t>
            </a:r>
            <a:r>
              <a:rPr lang="ru-RU" sz="6400" dirty="0">
                <a:solidFill>
                  <a:schemeClr val="tx1"/>
                </a:solidFill>
              </a:rPr>
              <a:t>). График покажет медианы и разброс цен.</a:t>
            </a:r>
          </a:p>
          <a:p>
            <a:pPr marL="273050" indent="-27305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6400" dirty="0">
                <a:solidFill>
                  <a:schemeClr val="tx1"/>
                </a:solidFill>
              </a:rPr>
              <a:t>Независимый T-Test для сравнения средних цен между группами AT и </a:t>
            </a:r>
            <a:r>
              <a:rPr lang="ru-RU" sz="6400" dirty="0" err="1">
                <a:solidFill>
                  <a:schemeClr val="tx1"/>
                </a:solidFill>
              </a:rPr>
              <a:t>Manual</a:t>
            </a:r>
            <a:r>
              <a:rPr lang="ru-RU" sz="6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7CD84E2-A653-4868-BF09-FC3A28C5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3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66941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D648AA7-620A-48BC-85E9-2331B2B4E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667" y="364067"/>
            <a:ext cx="11514666" cy="5725583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4. Цена на авто после ДТП падает сильнее, чем при большом пробеге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Мы предполагаем, что удар по истории снижает цену даже сильнее, чем большой пробег.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u="sng" dirty="0">
                <a:solidFill>
                  <a:schemeClr val="tx1"/>
                </a:solidFill>
              </a:rPr>
              <a:t>Методы проверки:</a:t>
            </a:r>
          </a:p>
          <a:p>
            <a:pPr marL="273050" indent="-2730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Сравнить среднюю цену машин с пробегом 50–80 тыс. миль, но поделить их на две группы: «Были в ДТП» и «Не были».</a:t>
            </a:r>
          </a:p>
          <a:p>
            <a:pPr marL="273050" indent="-2730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Независимый T-Test для сравнения средних цен между группами «Было ДТП» и «Без ДТП» (с фильтром по пробегу и без него).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5. Мощность двигателя влияет на стоимость автомобиля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Предположительно, мощность двигателя положительно коррелирует с ценой автомобиля. Бренды, выпускающие более мощные моторы, занимают более высокий ценовой сегмент на вторичном рынке.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1600" u="sng" dirty="0">
                <a:solidFill>
                  <a:schemeClr val="tx1"/>
                </a:solidFill>
              </a:rPr>
              <a:t>Методы проверки: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</a:p>
          <a:p>
            <a:pPr marL="273050" indent="-2730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Извлечение числового признака «Мощность (</a:t>
            </a:r>
            <a:r>
              <a:rPr lang="ru-RU" sz="1600" dirty="0" err="1">
                <a:solidFill>
                  <a:schemeClr val="tx1"/>
                </a:solidFill>
              </a:rPr>
              <a:t>л.с</a:t>
            </a:r>
            <a:r>
              <a:rPr lang="ru-RU" sz="1600" dirty="0">
                <a:solidFill>
                  <a:schemeClr val="tx1"/>
                </a:solidFill>
              </a:rPr>
              <a:t>.)» из текста колонки </a:t>
            </a:r>
            <a:r>
              <a:rPr lang="ru-RU" sz="1600" dirty="0" err="1">
                <a:solidFill>
                  <a:schemeClr val="tx1"/>
                </a:solidFill>
              </a:rPr>
              <a:t>engine</a:t>
            </a:r>
            <a:r>
              <a:rPr lang="ru-RU" sz="1600" dirty="0">
                <a:solidFill>
                  <a:schemeClr val="tx1"/>
                </a:solidFill>
              </a:rPr>
              <a:t> в Power </a:t>
            </a:r>
            <a:r>
              <a:rPr lang="ru-RU" sz="1600" dirty="0" err="1">
                <a:solidFill>
                  <a:schemeClr val="tx1"/>
                </a:solidFill>
              </a:rPr>
              <a:t>Query</a:t>
            </a:r>
            <a:r>
              <a:rPr lang="ru-RU" sz="1600" dirty="0">
                <a:solidFill>
                  <a:schemeClr val="tx1"/>
                </a:solidFill>
              </a:rPr>
              <a:t>. Построение точечного графика (средняя цена </a:t>
            </a:r>
            <a:r>
              <a:rPr lang="ru-RU" sz="1600" dirty="0" err="1">
                <a:solidFill>
                  <a:schemeClr val="tx1"/>
                </a:solidFill>
              </a:rPr>
              <a:t>vs</a:t>
            </a:r>
            <a:r>
              <a:rPr lang="ru-RU" sz="1600" dirty="0">
                <a:solidFill>
                  <a:schemeClr val="tx1"/>
                </a:solidFill>
              </a:rPr>
              <a:t> средняя мощность) с добавлением линии тренда.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Однофакторный дисперсионный анализ (ANOVA) для </a:t>
            </a:r>
            <a:r>
              <a:rPr lang="en-US" sz="1600" dirty="0">
                <a:solidFill>
                  <a:schemeClr val="tx1"/>
                </a:solidFill>
              </a:rPr>
              <a:t>5 </a:t>
            </a:r>
            <a:r>
              <a:rPr lang="ru-RU" sz="1600" dirty="0">
                <a:solidFill>
                  <a:schemeClr val="tx1"/>
                </a:solidFill>
              </a:rPr>
              <a:t>групп мощности двигателя.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endParaRPr lang="ru-BY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A57F52-EEF9-4F05-8E52-6C7BBBE9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4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3373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4D014-3EB7-4910-AEED-D1AEE7CE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5671"/>
            <a:ext cx="10515600" cy="558799"/>
          </a:xfrm>
        </p:spPr>
        <p:txBody>
          <a:bodyPr>
            <a:noAutofit/>
          </a:bodyPr>
          <a:lstStyle/>
          <a:p>
            <a:pPr algn="ctr"/>
            <a:r>
              <a:rPr lang="ru-RU" sz="2600" dirty="0"/>
              <a:t>Предобработка данных</a:t>
            </a:r>
            <a:endParaRPr lang="ru-BY" sz="26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E04A9A-23B2-49BB-91BF-906872855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53244"/>
            <a:ext cx="10515600" cy="580310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1. Очистка числовых полей: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Из колонок </a:t>
            </a:r>
            <a:r>
              <a:rPr lang="ru-RU" sz="1600" dirty="0" err="1">
                <a:solidFill>
                  <a:schemeClr val="tx1"/>
                </a:solidFill>
              </a:rPr>
              <a:t>price</a:t>
            </a:r>
            <a:r>
              <a:rPr lang="ru-RU" sz="1600" dirty="0">
                <a:solidFill>
                  <a:schemeClr val="tx1"/>
                </a:solidFill>
              </a:rPr>
              <a:t> (цена) и </a:t>
            </a:r>
            <a:r>
              <a:rPr lang="ru-RU" sz="1600" dirty="0" err="1">
                <a:solidFill>
                  <a:schemeClr val="tx1"/>
                </a:solidFill>
              </a:rPr>
              <a:t>milage</a:t>
            </a:r>
            <a:r>
              <a:rPr lang="ru-RU" sz="1600" dirty="0">
                <a:solidFill>
                  <a:schemeClr val="tx1"/>
                </a:solidFill>
              </a:rPr>
              <a:t> (пробег) были удалены символы $, запятые и приписка </a:t>
            </a:r>
            <a:r>
              <a:rPr lang="ru-RU" sz="1600" dirty="0" err="1">
                <a:solidFill>
                  <a:schemeClr val="tx1"/>
                </a:solidFill>
              </a:rPr>
              <a:t>mi</a:t>
            </a:r>
            <a:r>
              <a:rPr lang="ru-RU" sz="1600" dirty="0">
                <a:solidFill>
                  <a:schemeClr val="tx1"/>
                </a:solidFill>
              </a:rPr>
              <a:t>. с последующим приведением к числовому типу.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2. Обработка пропусков: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Числовые пропуски заполнены медианой по выборке.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Категориальные пропуски заменены константами: UNKNOWN, </a:t>
            </a:r>
            <a:r>
              <a:rPr lang="ru-RU" sz="1600" dirty="0" err="1">
                <a:solidFill>
                  <a:schemeClr val="tx1"/>
                </a:solidFill>
              </a:rPr>
              <a:t>None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reported</a:t>
            </a:r>
            <a:r>
              <a:rPr lang="ru-RU" sz="1600" dirty="0">
                <a:solidFill>
                  <a:schemeClr val="tx1"/>
                </a:solidFill>
              </a:rPr>
              <a:t> и др.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3. Создание новых признаков (</a:t>
            </a:r>
            <a:r>
              <a:rPr lang="ru-RU" sz="1600" b="1" dirty="0" err="1">
                <a:solidFill>
                  <a:schemeClr val="tx1"/>
                </a:solidFill>
              </a:rPr>
              <a:t>Feature</a:t>
            </a:r>
            <a:r>
              <a:rPr lang="ru-RU" sz="1600" b="1" dirty="0">
                <a:solidFill>
                  <a:schemeClr val="tx1"/>
                </a:solidFill>
              </a:rPr>
              <a:t> Engineering):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Из текстового описания двигателя извлечен признак </a:t>
            </a:r>
            <a:r>
              <a:rPr lang="ru-RU" sz="1600" dirty="0" err="1">
                <a:solidFill>
                  <a:schemeClr val="tx1"/>
                </a:solidFill>
              </a:rPr>
              <a:t>engine_size</a:t>
            </a:r>
            <a:r>
              <a:rPr lang="ru-RU" sz="1600" dirty="0">
                <a:solidFill>
                  <a:schemeClr val="tx1"/>
                </a:solidFill>
              </a:rPr>
              <a:t> (объем в литрах) с помощью регулярных выражений. Это позволило использовать объем как числовой фактор в анализе.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Проведена унификация типов трансмиссий: все вариации автоматических коробок (включая CVT, вариаторы и роботизированные КПП) объединены в группу AT (</a:t>
            </a:r>
            <a:r>
              <a:rPr lang="ru-RU" sz="1600" dirty="0" err="1">
                <a:solidFill>
                  <a:schemeClr val="tx1"/>
                </a:solidFill>
              </a:rPr>
              <a:t>Automatic</a:t>
            </a:r>
            <a:r>
              <a:rPr lang="ru-RU" sz="1600" dirty="0">
                <a:solidFill>
                  <a:schemeClr val="tx1"/>
                </a:solidFill>
              </a:rPr>
              <a:t>), механические — в группу </a:t>
            </a:r>
            <a:r>
              <a:rPr lang="ru-RU" sz="1600" dirty="0" err="1">
                <a:solidFill>
                  <a:schemeClr val="tx1"/>
                </a:solidFill>
              </a:rPr>
              <a:t>Manual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tx1"/>
                </a:solidFill>
              </a:rPr>
              <a:t>4. Удаление выбросов: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С помощью перцентилей (</a:t>
            </a:r>
            <a:r>
              <a:rPr lang="ru-RU" sz="1600" dirty="0" err="1">
                <a:solidFill>
                  <a:schemeClr val="tx1"/>
                </a:solidFill>
              </a:rPr>
              <a:t>quantile</a:t>
            </a:r>
            <a:r>
              <a:rPr lang="ru-RU" sz="1600" dirty="0">
                <a:solidFill>
                  <a:schemeClr val="tx1"/>
                </a:solidFill>
              </a:rPr>
              <a:t>) отсечены аномально высокие цены (верхние 1%) и аномально большие пробеги (верхние 0.5%), чтобы статистические показатели не искажались редкими экстремальными значениями.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tx1"/>
                </a:solidFill>
              </a:rPr>
              <a:t>Объем выборки после очистки: 3 948 записей.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600" b="1" u="sng" dirty="0">
                <a:solidFill>
                  <a:schemeClr val="tx1"/>
                </a:solidFill>
              </a:rPr>
              <a:t>Инструменты реализации: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Python 3</a:t>
            </a:r>
            <a:r>
              <a:rPr lang="ru-RU" sz="1600" dirty="0">
                <a:solidFill>
                  <a:schemeClr val="tx1"/>
                </a:solidFill>
              </a:rPr>
              <a:t>: библиотеки: </a:t>
            </a:r>
            <a:r>
              <a:rPr lang="en-US" sz="1600" dirty="0">
                <a:solidFill>
                  <a:schemeClr val="tx1"/>
                </a:solidFill>
              </a:rPr>
              <a:t>p</a:t>
            </a:r>
            <a:r>
              <a:rPr lang="ru-RU" sz="1600" dirty="0" err="1">
                <a:solidFill>
                  <a:schemeClr val="tx1"/>
                </a:solidFill>
              </a:rPr>
              <a:t>andas</a:t>
            </a:r>
            <a:r>
              <a:rPr lang="ru-RU" sz="1600" dirty="0">
                <a:solidFill>
                  <a:schemeClr val="tx1"/>
                </a:solidFill>
              </a:rPr>
              <a:t> (загрузка и очистка данных), регулярные выражения, библиотеки для визуализации </a:t>
            </a:r>
            <a:r>
              <a:rPr lang="en-US" sz="1600" dirty="0">
                <a:solidFill>
                  <a:schemeClr val="tx1"/>
                </a:solidFill>
              </a:rPr>
              <a:t>EDA: matplotlib, seaborn; Microsoft Power BI; SQLite; GIT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550984-C6F4-4207-A3B4-E29FF725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5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8338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D156F-4228-472B-9438-8B978F972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34"/>
            <a:ext cx="10515600" cy="457992"/>
          </a:xfrm>
        </p:spPr>
        <p:txBody>
          <a:bodyPr>
            <a:noAutofit/>
          </a:bodyPr>
          <a:lstStyle/>
          <a:p>
            <a:pPr algn="ctr"/>
            <a:r>
              <a:rPr lang="ru-RU" sz="2600" dirty="0"/>
              <a:t>Влияние пробега на цену зависит от бренда</a:t>
            </a:r>
            <a:endParaRPr lang="ru-BY" sz="26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35B19C-1CCA-41E5-9EDB-E9533EE43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84614"/>
            <a:ext cx="10515600" cy="250397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Корреляционный анализ (Пирсон) был проведён отдельно для топ-6 брендов. Все бренды показали статистически значимую отрицательную связь между пробегом и ценой (p &lt; 0.001). Однако гипотеза о том, что премиальные бренды защищены от падения цены лучше, чем массовые, не подтвердилась.</a:t>
            </a:r>
          </a:p>
          <a:p>
            <a:pPr algn="just"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Это означает, что чувствительность к пробегу сильно варьируется даже внутри одного сегмента, и премиальный статус сам по себе не гарантирует защиты от потери стоимости из-за пробега в этом </a:t>
            </a:r>
            <a:r>
              <a:rPr lang="ru-RU" sz="1600" dirty="0" err="1">
                <a:solidFill>
                  <a:schemeClr val="tx1"/>
                </a:solidFill>
              </a:rPr>
              <a:t>датасете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00000"/>
              </a:lnSpc>
            </a:pPr>
            <a:endParaRPr lang="ru-RU" sz="16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ru-RU" sz="1600" dirty="0">
                <a:solidFill>
                  <a:schemeClr val="tx1"/>
                </a:solidFill>
              </a:rPr>
              <a:t>❌ Гипотеза НЕ ПОДТВЕРЖДЕНА. Зависимость цены от пробега есть у всех брендов, но её сила не определяется однозначно </a:t>
            </a:r>
            <a:r>
              <a:rPr lang="ru-RU" sz="1600" dirty="0" err="1">
                <a:solidFill>
                  <a:schemeClr val="tx1"/>
                </a:solidFill>
              </a:rPr>
              <a:t>премиальностью</a:t>
            </a:r>
            <a:r>
              <a:rPr lang="ru-RU" sz="1600" dirty="0">
                <a:solidFill>
                  <a:schemeClr val="tx1"/>
                </a:solidFill>
              </a:rPr>
              <a:t> бренда.</a:t>
            </a:r>
            <a:endParaRPr lang="ru-BY" sz="16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68B1DA-9AE2-48CC-B797-53F18792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6</a:t>
            </a:fld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5DAE78-6CD5-49EE-8EC2-5E2DCF04F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596" y="915407"/>
            <a:ext cx="5258841" cy="168488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E8A069E-332D-4C0C-9DDE-0BC276E97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70" y="492127"/>
            <a:ext cx="6049108" cy="288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1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F8264F-2B45-405F-9DAD-21ECDB90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7</a:t>
            </a:fld>
            <a:endParaRPr lang="ru-BY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145D6-4BC8-42E7-A51A-8E4E43383B63}"/>
              </a:ext>
            </a:extLst>
          </p:cNvPr>
          <p:cNvSpPr txBox="1"/>
          <p:nvPr/>
        </p:nvSpPr>
        <p:spPr>
          <a:xfrm>
            <a:off x="364067" y="4297373"/>
            <a:ext cx="114638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1600" dirty="0"/>
          </a:p>
          <a:p>
            <a:pPr algn="just"/>
            <a:r>
              <a:rPr lang="ru-RU" sz="1600" b="1" dirty="0"/>
              <a:t>Статистическая проверка (T-Test):</a:t>
            </a:r>
          </a:p>
          <a:p>
            <a:pPr algn="just"/>
            <a:r>
              <a:rPr lang="ru-RU" sz="1600" dirty="0"/>
              <a:t>Для проверки гипотезы был проведен независимый T-Test для двух групп (Electric </a:t>
            </a:r>
            <a:r>
              <a:rPr lang="ru-RU" sz="1600" dirty="0" err="1"/>
              <a:t>vs</a:t>
            </a:r>
            <a:r>
              <a:rPr lang="ru-RU" sz="1600" dirty="0"/>
              <a:t> </a:t>
            </a:r>
            <a:r>
              <a:rPr lang="ru-RU" sz="1600" dirty="0" err="1"/>
              <a:t>Gasoline</a:t>
            </a:r>
            <a:r>
              <a:rPr lang="ru-RU" sz="1600" dirty="0"/>
              <a:t>) по двум признакам: цена и пробег.</a:t>
            </a:r>
            <a:endParaRPr lang="ru-RU" sz="1600" b="1" dirty="0"/>
          </a:p>
          <a:p>
            <a:pPr algn="just"/>
            <a:r>
              <a:rPr lang="ru-RU" sz="1600" dirty="0"/>
              <a:t>Цена: T = 0.56, p-</a:t>
            </a:r>
            <a:r>
              <a:rPr lang="ru-RU" sz="1600" dirty="0" err="1"/>
              <a:t>value</a:t>
            </a:r>
            <a:r>
              <a:rPr lang="ru-RU" sz="1600" dirty="0"/>
              <a:t> = 0.5756 (&gt; 0.05) - разница не значима.</a:t>
            </a:r>
          </a:p>
          <a:p>
            <a:pPr algn="just"/>
            <a:r>
              <a:rPr lang="ru-RU" sz="1600" dirty="0"/>
              <a:t>Пробег: T = -4.43, p-</a:t>
            </a:r>
            <a:r>
              <a:rPr lang="ru-RU" sz="1600" dirty="0" err="1"/>
              <a:t>value</a:t>
            </a:r>
            <a:r>
              <a:rPr lang="ru-RU" sz="1600" dirty="0"/>
              <a:t> = 1.03e-05 (&lt; 0.05) - разница статистически значима.</a:t>
            </a:r>
          </a:p>
          <a:p>
            <a:pPr algn="just"/>
            <a:r>
              <a:rPr lang="ru-RU" sz="1600" dirty="0"/>
              <a:t>✅ Электромобили в данной выборке имеют статистически значимо меньший пробег, что объясняет их привлекательность на вторичном рынке. </a:t>
            </a:r>
          </a:p>
          <a:p>
            <a:pPr algn="just"/>
            <a:r>
              <a:rPr lang="ru-RU" sz="1600" dirty="0"/>
              <a:t>❌ Их ценовое преимущество в данном </a:t>
            </a:r>
            <a:r>
              <a:rPr lang="ru-RU" sz="1600" dirty="0" err="1"/>
              <a:t>датасете</a:t>
            </a:r>
            <a:r>
              <a:rPr lang="ru-RU" sz="1600" dirty="0"/>
              <a:t> статистически не подтверждено.</a:t>
            </a:r>
          </a:p>
          <a:p>
            <a:pPr algn="just"/>
            <a:endParaRPr lang="ru-RU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43531B-60B4-41FF-BF2C-FC135324B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77" y="1528949"/>
            <a:ext cx="9981018" cy="3071331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CBEB4D5-D1A7-4B07-9F31-AB75C640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2551"/>
            <a:ext cx="12192000" cy="120663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900" dirty="0"/>
              <a:t>Электромобили имеют:</a:t>
            </a:r>
            <a:br>
              <a:rPr lang="ru-RU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0359E-D754-41D5-9B31-C3E5CCD4CF09}"/>
              </a:ext>
            </a:extLst>
          </p:cNvPr>
          <p:cNvSpPr txBox="1"/>
          <p:nvPr/>
        </p:nvSpPr>
        <p:spPr>
          <a:xfrm>
            <a:off x="0" y="636397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dirty="0">
                <a:latin typeface="+mj-lt"/>
              </a:rPr>
              <a:t>более узкий ценовой разброс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600" dirty="0">
                <a:latin typeface="+mj-lt"/>
              </a:rPr>
              <a:t>меньший пробег на вторичном рынке, чем бензиновые автомобили</a:t>
            </a:r>
          </a:p>
        </p:txBody>
      </p:sp>
    </p:spTree>
    <p:extLst>
      <p:ext uri="{BB962C8B-B14F-4D97-AF65-F5344CB8AC3E}">
        <p14:creationId xmlns:p14="http://schemas.microsoft.com/office/powerpoint/2010/main" val="81377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03C53C-E9E9-471D-9AAD-447F8BA5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8</a:t>
            </a:fld>
            <a:endParaRPr lang="ru-B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F91E3-AAB1-4360-A4E4-9FEBF21890FE}"/>
              </a:ext>
            </a:extLst>
          </p:cNvPr>
          <p:cNvSpPr txBox="1"/>
          <p:nvPr/>
        </p:nvSpPr>
        <p:spPr>
          <a:xfrm>
            <a:off x="220134" y="136525"/>
            <a:ext cx="1175173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>
                <a:latin typeface="+mj-lt"/>
              </a:rPr>
              <a:t>Автоматическая трансмиссия повышает рыночную стоимость автомобиля</a:t>
            </a:r>
            <a:endParaRPr lang="ru-BY" sz="2600" dirty="0">
              <a:latin typeface="+mj-lt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24D0B5-A8F3-413C-A831-D25E9B6E0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4" y="1029077"/>
            <a:ext cx="5895441" cy="421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2C4C35-BA3E-4FEE-933E-3D21440D5F82}"/>
              </a:ext>
            </a:extLst>
          </p:cNvPr>
          <p:cNvSpPr txBox="1"/>
          <p:nvPr/>
        </p:nvSpPr>
        <p:spPr>
          <a:xfrm>
            <a:off x="6096000" y="965508"/>
            <a:ext cx="5875866" cy="4379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Сравнение распределения цен (</a:t>
            </a:r>
            <a:r>
              <a:rPr lang="ru-RU" sz="1600" dirty="0" err="1"/>
              <a:t>Boxplot</a:t>
            </a:r>
            <a:r>
              <a:rPr lang="ru-RU" sz="1600" dirty="0"/>
              <a:t>) показывает, что автомобили с автоматической коробкой передач имеют более высокую медианную стоимость (примерно $35,000 против $20,000 у механики). Автоматическая трансмиссия также ассоциируется с более широким ценовым диапазоном и наличием премиальных автомобилей в выборке.</a:t>
            </a:r>
          </a:p>
          <a:p>
            <a:r>
              <a:rPr lang="ru-RU" sz="1600" b="1" dirty="0"/>
              <a:t>Статистическое подтверждение (</a:t>
            </a:r>
            <a:r>
              <a:rPr lang="en-US" sz="1600" b="1" dirty="0"/>
              <a:t>T-Test):</a:t>
            </a:r>
            <a:endParaRPr lang="ru-RU" sz="1600" b="1" dirty="0"/>
          </a:p>
          <a:p>
            <a:r>
              <a:rPr lang="ru-RU" sz="1600" dirty="0"/>
              <a:t>Для проверки статистической значимости различий был проведен независимый T-Test (сравнение средних цен в двух группах).</a:t>
            </a:r>
          </a:p>
          <a:p>
            <a:r>
              <a:rPr lang="ru-RU" sz="1600" b="1" dirty="0"/>
              <a:t>Результаты:</a:t>
            </a:r>
            <a:endParaRPr lang="ru-RU" sz="1600" dirty="0"/>
          </a:p>
          <a:p>
            <a:r>
              <a:rPr lang="ru-RU" sz="1600" dirty="0"/>
              <a:t>T-статистика: 4.0627</a:t>
            </a:r>
          </a:p>
          <a:p>
            <a:r>
              <a:rPr lang="ru-RU" sz="1600" dirty="0"/>
              <a:t>P-значение: 4.945e-05 (менее 0.05)</a:t>
            </a:r>
          </a:p>
          <a:p>
            <a:r>
              <a:rPr lang="ru-RU" sz="1600" dirty="0"/>
              <a:t>Так как p-</a:t>
            </a:r>
            <a:r>
              <a:rPr lang="ru-RU" sz="1600" dirty="0" err="1"/>
              <a:t>value</a:t>
            </a:r>
            <a:r>
              <a:rPr lang="ru-RU" sz="1600" dirty="0"/>
              <a:t> &lt; 0.05, разница в ценах между группами является статистически значимой и не может быть объяснена случайностью.</a:t>
            </a:r>
            <a:endParaRPr lang="ru-BY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274CAE-DA61-4660-9F3F-C89016012E47}"/>
              </a:ext>
            </a:extLst>
          </p:cNvPr>
          <p:cNvSpPr txBox="1"/>
          <p:nvPr/>
        </p:nvSpPr>
        <p:spPr>
          <a:xfrm>
            <a:off x="606016" y="5772748"/>
            <a:ext cx="111844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✅ </a:t>
            </a:r>
            <a:r>
              <a:rPr lang="ru-RU" sz="1600" dirty="0"/>
              <a:t>Гипотеза подтверждена визуально, математически и статистически. Тип трансмиссии является значимым фактором: автоматическая коробка передач повышает ликвидность и рыночную стоимость автомобиля.</a:t>
            </a:r>
            <a:endParaRPr lang="ru-BY" sz="1600" dirty="0"/>
          </a:p>
        </p:txBody>
      </p:sp>
    </p:spTree>
    <p:extLst>
      <p:ext uri="{BB962C8B-B14F-4D97-AF65-F5344CB8AC3E}">
        <p14:creationId xmlns:p14="http://schemas.microsoft.com/office/powerpoint/2010/main" val="3363962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2F08D5-2914-42F6-9B6A-42C448A3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9</a:t>
            </a:fld>
            <a:endParaRPr lang="ru-BY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58765-2958-4907-908E-D693741806E7}"/>
              </a:ext>
            </a:extLst>
          </p:cNvPr>
          <p:cNvSpPr txBox="1"/>
          <p:nvPr/>
        </p:nvSpPr>
        <p:spPr>
          <a:xfrm>
            <a:off x="389467" y="136525"/>
            <a:ext cx="114130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latin typeface="+mj-lt"/>
              </a:rPr>
              <a:t>Гипотеза №4: «Цена после ДТП падает сильнее обычного износа»</a:t>
            </a:r>
            <a:endParaRPr lang="ru-BY" sz="2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81652-5319-47B5-BF6A-E37D81991DC7}"/>
              </a:ext>
            </a:extLst>
          </p:cNvPr>
          <p:cNvSpPr txBox="1"/>
          <p:nvPr/>
        </p:nvSpPr>
        <p:spPr>
          <a:xfrm>
            <a:off x="327920" y="4413151"/>
            <a:ext cx="114746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/>
              <a:t>Анализ визуальных данных. </a:t>
            </a:r>
            <a:r>
              <a:rPr lang="ru-RU" sz="1600" dirty="0"/>
              <a:t>Сравнение распределения цен (</a:t>
            </a:r>
            <a:r>
              <a:rPr lang="ru-RU" sz="1600" dirty="0" err="1"/>
              <a:t>Boxplot</a:t>
            </a:r>
            <a:r>
              <a:rPr lang="ru-RU" sz="1600" dirty="0"/>
              <a:t>) показывает, что автомобили с ДТП имеют более низкую медианную стоимость (индекс 0.90 против 1.00 у небитых). При одинаковом бренде, годе выпуска и пробеге (50k–60k миль) факт аварии наносит самостоятельный урон стоимости автомобиля, смещая весь ценовой диапазон вниз.</a:t>
            </a:r>
          </a:p>
          <a:p>
            <a:pPr algn="just"/>
            <a:r>
              <a:rPr lang="ru-RU" sz="1600" dirty="0"/>
              <a:t>Для изоляции фактора износа данные были нормализованы: цена каждой машины сопоставлена со средней ценой её бренда внутри конкретного года выпуска. Анализ проведен на фиксированном отрезке пробега.</a:t>
            </a:r>
          </a:p>
          <a:p>
            <a:pPr algn="just"/>
            <a:r>
              <a:rPr lang="ru-RU" sz="1600" dirty="0"/>
              <a:t>Для проверки значимости различий был проведен независимый T-Test (сравнение средних цен в двух группах).</a:t>
            </a:r>
          </a:p>
          <a:p>
            <a:pPr algn="just"/>
            <a:r>
              <a:rPr lang="ru-RU" sz="1600" b="1" dirty="0"/>
              <a:t>Результаты. </a:t>
            </a:r>
            <a:r>
              <a:rPr lang="ru-RU" sz="1600" dirty="0"/>
              <a:t>Т-статистика: -0.7303, Р-значение (P-</a:t>
            </a:r>
            <a:r>
              <a:rPr lang="ru-RU" sz="1600" dirty="0" err="1"/>
              <a:t>value</a:t>
            </a:r>
            <a:r>
              <a:rPr lang="ru-RU" sz="1600" dirty="0"/>
              <a:t>): 0.46509 (более 0.05).</a:t>
            </a:r>
          </a:p>
          <a:p>
            <a:pPr algn="just"/>
            <a:endParaRPr lang="ru-RU" sz="16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EEE81A-5474-42F0-9F94-726D2F867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22" y="628968"/>
            <a:ext cx="4866155" cy="371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21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E8C9A9-493C-416F-B7A9-2B024CDB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10</a:t>
            </a:fld>
            <a:endParaRPr lang="ru-BY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2E7AAD-10CC-48ED-BE10-D81E498DD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57" y="285426"/>
            <a:ext cx="4969012" cy="40079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DEB5C2-6BEC-4F47-85DC-3B06B90EA090}"/>
              </a:ext>
            </a:extLst>
          </p:cNvPr>
          <p:cNvSpPr txBox="1"/>
          <p:nvPr/>
        </p:nvSpPr>
        <p:spPr>
          <a:xfrm>
            <a:off x="5407269" y="219807"/>
            <a:ext cx="647993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Интерпретация результатов и аномалий:</a:t>
            </a:r>
          </a:p>
          <a:p>
            <a:r>
              <a:rPr lang="ru-RU" sz="1600" dirty="0"/>
              <a:t>Классический T-</a:t>
            </a:r>
            <a:r>
              <a:rPr lang="ru-RU" sz="1600" dirty="0" err="1"/>
              <a:t>test</a:t>
            </a:r>
            <a:r>
              <a:rPr lang="ru-RU" sz="1600" dirty="0"/>
              <a:t> на равенство средних формально считает разницу незначимой (p-</a:t>
            </a:r>
            <a:r>
              <a:rPr lang="ru-RU" sz="1600" dirty="0" err="1"/>
              <a:t>value</a:t>
            </a:r>
            <a:r>
              <a:rPr lang="ru-RU" sz="1600" dirty="0"/>
              <a:t> &gt; 0.05). Это обусловлено двумя факторами, которые также объясняют появление «отрицательной уценки» (минусовых процентов) у отдельных брендов в общей таблице: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Эффект малых выборок (шум): У брендов с аномальной уценкой крайне мало критических данных в выборке. Любое случайное единичное попадание дорогой модели или свежего года выпуска в группу «с ДТП» резко завышает её среднюю цену.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Ценовые выбросы: в группе машин с ДТП присутствуют единичные продажи аномально дорогих премиум-авто (точки на графике от 2.0 до 4.0), которые искусственно тянут среднее арифметическое вверх, маскируя реальный дисконт.</a:t>
            </a:r>
          </a:p>
          <a:p>
            <a:endParaRPr lang="ru-RU" sz="1600" dirty="0"/>
          </a:p>
          <a:p>
            <a:endParaRPr lang="ru-BY" sz="1600" dirty="0"/>
          </a:p>
          <a:p>
            <a:endParaRPr lang="ru-B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958CD-858F-47C6-A973-8E9352DCF611}"/>
              </a:ext>
            </a:extLst>
          </p:cNvPr>
          <p:cNvSpPr txBox="1"/>
          <p:nvPr/>
        </p:nvSpPr>
        <p:spPr>
          <a:xfrm>
            <a:off x="438256" y="4422531"/>
            <a:ext cx="114489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0" u="none" strike="noStrike" dirty="0">
                <a:effectLst/>
              </a:rPr>
              <a:t>Медианный же анализ очищенной выборки (</a:t>
            </a:r>
            <a:r>
              <a:rPr lang="ru-RU" sz="1800" b="0" u="none" strike="noStrike" dirty="0" err="1">
                <a:effectLst/>
              </a:rPr>
              <a:t>Boxplot</a:t>
            </a:r>
            <a:r>
              <a:rPr lang="ru-RU" sz="1800" b="0" u="none" strike="noStrike" dirty="0">
                <a:effectLst/>
              </a:rPr>
              <a:t>) полностью нивелирует этот шум и математически доказывает устойчивый рыночный дисконт.</a:t>
            </a:r>
            <a:endParaRPr lang="en-US" sz="1800" b="0" u="none" strike="noStrike" dirty="0">
              <a:effectLst/>
            </a:endParaRPr>
          </a:p>
          <a:p>
            <a:endParaRPr lang="en-US" dirty="0"/>
          </a:p>
          <a:p>
            <a:endParaRPr lang="en-US" sz="1800" b="0" u="none" strike="noStrike" dirty="0">
              <a:effectLst/>
            </a:endParaRPr>
          </a:p>
          <a:p>
            <a:r>
              <a:rPr lang="ru-RU" sz="1800" b="0" u="none" strike="noStrike" dirty="0">
                <a:effectLst/>
              </a:rPr>
              <a:t>✅ Гипотеза подтверждена. Наличие ДТП является значимым изолированным фактором: авария гарантированно снижает рыночную стоимость автомобиля в среднем на 10% (и до 41% в целом по рынку при укрупнении выборки), независимо от его естественного износа.</a:t>
            </a:r>
          </a:p>
        </p:txBody>
      </p:sp>
    </p:spTree>
    <p:extLst>
      <p:ext uri="{BB962C8B-B14F-4D97-AF65-F5344CB8AC3E}">
        <p14:creationId xmlns:p14="http://schemas.microsoft.com/office/powerpoint/2010/main" val="314855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06D4F-3E15-455F-9F25-E82681E4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600" dirty="0"/>
              <a:t>Гипотеза №5: мощность двигателя влияет на стоимость автомобиля</a:t>
            </a:r>
            <a:endParaRPr lang="ru-BY" sz="2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052284-F0B1-4DEE-8D4D-830B06C4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11</a:t>
            </a:fld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7D69DF-BF50-4672-8D11-C4FFEE944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593725"/>
            <a:ext cx="6561667" cy="3266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8A4BFC-6379-4329-8305-A909EC4FCEBC}"/>
              </a:ext>
            </a:extLst>
          </p:cNvPr>
          <p:cNvSpPr txBox="1"/>
          <p:nvPr/>
        </p:nvSpPr>
        <p:spPr>
          <a:xfrm>
            <a:off x="302520" y="4231126"/>
            <a:ext cx="115869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Колонка </a:t>
            </a:r>
            <a:r>
              <a:rPr lang="ru-RU" dirty="0" err="1"/>
              <a:t>engine</a:t>
            </a:r>
            <a:r>
              <a:rPr lang="ru-RU" dirty="0"/>
              <a:t> содержала текстовое описание двигателя (например, 300.0HP 3.7L V6). С помощью разделителя по пробелу в Power </a:t>
            </a:r>
            <a:r>
              <a:rPr lang="ru-RU" dirty="0" err="1"/>
              <a:t>Query</a:t>
            </a:r>
            <a:r>
              <a:rPr lang="ru-RU" dirty="0"/>
              <a:t> был извлечен отдельный числовой столбец Power, содержащий мощность в лошадиных силах.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На графике видна явная положительная корреляция между средней мощностью бренда и его средней ценой. Линия тренда подтверждает прямую зависимость: чем выше мощность, тем выше цена автомобиля.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82226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0F3234-0B2F-499C-8488-993D4758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12</a:t>
            </a:fld>
            <a:endParaRPr lang="ru-B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C8203-3925-4980-A147-2C5F78B6A7AC}"/>
              </a:ext>
            </a:extLst>
          </p:cNvPr>
          <p:cNvSpPr txBox="1"/>
          <p:nvPr/>
        </p:nvSpPr>
        <p:spPr>
          <a:xfrm>
            <a:off x="397933" y="5527676"/>
            <a:ext cx="11421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✅ Гипотеза подтверждена. Мощность двигателя является одним из ключевых и фундаментальных факторов ценообразования на автомобильном рынке.</a:t>
            </a:r>
            <a:endParaRPr lang="ru-BY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F0B7EC-27B6-45D0-A802-E86B015FB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69" y="136525"/>
            <a:ext cx="6606861" cy="3250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F874D-B65F-4583-8FF3-E3F8CF99E17B}"/>
              </a:ext>
            </a:extLst>
          </p:cNvPr>
          <p:cNvSpPr txBox="1"/>
          <p:nvPr/>
        </p:nvSpPr>
        <p:spPr>
          <a:xfrm>
            <a:off x="397933" y="3387133"/>
            <a:ext cx="1142153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Для одновременной проверки всех пяти групп был проведен однофакторный дисперсионный анализ (ANOVA). </a:t>
            </a:r>
            <a:r>
              <a:rPr lang="ru-RU" sz="1600" b="1" dirty="0"/>
              <a:t>Результаты:</a:t>
            </a:r>
          </a:p>
          <a:p>
            <a:r>
              <a:rPr lang="ru-RU" sz="1600" dirty="0"/>
              <a:t>F-статистика: 456.2675</a:t>
            </a:r>
          </a:p>
          <a:p>
            <a:r>
              <a:rPr lang="ru-RU" sz="1600" dirty="0"/>
              <a:t>Р-значение (P-</a:t>
            </a:r>
            <a:r>
              <a:rPr lang="ru-RU" sz="1600" dirty="0" err="1"/>
              <a:t>value</a:t>
            </a:r>
            <a:r>
              <a:rPr lang="ru-RU" sz="1600" dirty="0"/>
              <a:t>): 0.0000000000 (строго меньше 0.05)</a:t>
            </a:r>
          </a:p>
          <a:p>
            <a:r>
              <a:rPr lang="ru-RU" sz="1600" dirty="0"/>
              <a:t>Высокое значение F-статистики при нулевом p-</a:t>
            </a:r>
            <a:r>
              <a:rPr lang="ru-RU" sz="1600" dirty="0" err="1"/>
              <a:t>value</a:t>
            </a:r>
            <a:r>
              <a:rPr lang="ru-RU" sz="1600" dirty="0"/>
              <a:t> математически доказывает максимальную статистическую значимость и неслучайность обнаруженных различий между сегментами.</a:t>
            </a:r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20958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E622B-DA74-4B7E-9707-364F8DCC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717" y="161925"/>
            <a:ext cx="10515600" cy="102340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Реализация хранения данных (</a:t>
            </a:r>
            <a:r>
              <a:rPr lang="ru-RU" sz="4000" dirty="0" err="1"/>
              <a:t>SQLite</a:t>
            </a:r>
            <a:r>
              <a:rPr lang="ru-RU" sz="4000" dirty="0"/>
              <a:t>) и аналитические запросы</a:t>
            </a:r>
            <a:endParaRPr lang="ru-BY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008790-D4D3-4EC0-8E29-528DF2C94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449" y="1286933"/>
            <a:ext cx="11622617" cy="1464734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Очищенный </a:t>
            </a:r>
            <a:r>
              <a:rPr lang="ru-RU" dirty="0" err="1">
                <a:solidFill>
                  <a:schemeClr val="tx1"/>
                </a:solidFill>
              </a:rPr>
              <a:t>датафрейм</a:t>
            </a:r>
            <a:r>
              <a:rPr lang="ru-RU" dirty="0">
                <a:solidFill>
                  <a:schemeClr val="tx1"/>
                </a:solidFill>
              </a:rPr>
              <a:t> был загружен в локальную базу данных </a:t>
            </a:r>
            <a:r>
              <a:rPr lang="ru-RU" dirty="0" err="1">
                <a:solidFill>
                  <a:schemeClr val="tx1"/>
                </a:solidFill>
              </a:rPr>
              <a:t>SQLite</a:t>
            </a:r>
            <a:r>
              <a:rPr lang="ru-RU" dirty="0">
                <a:solidFill>
                  <a:schemeClr val="tx1"/>
                </a:solidFill>
              </a:rPr>
              <a:t> (</a:t>
            </a:r>
            <a:r>
              <a:rPr lang="ru-RU" dirty="0" err="1">
                <a:solidFill>
                  <a:schemeClr val="tx1"/>
                </a:solidFill>
              </a:rPr>
              <a:t>cars_database_final.db</a:t>
            </a:r>
            <a:r>
              <a:rPr lang="ru-RU" dirty="0">
                <a:solidFill>
                  <a:schemeClr val="tx1"/>
                </a:solidFill>
              </a:rPr>
              <a:t>) для демонстрации навыков работы с реляционными базами данных и написания аналитических SQL-запросов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E2E66F-650C-4DED-B5B4-15FF6206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13</a:t>
            </a:fld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50FF44-5100-4C4F-B856-17965F835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517" y="2431746"/>
            <a:ext cx="5172797" cy="3515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38EBC5-AC5A-4DA6-A8E1-858DFE878159}"/>
              </a:ext>
            </a:extLst>
          </p:cNvPr>
          <p:cNvSpPr txBox="1"/>
          <p:nvPr/>
        </p:nvSpPr>
        <p:spPr>
          <a:xfrm>
            <a:off x="425449" y="2431746"/>
            <a:ext cx="56705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Были реализованы следующие запросы: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Топ-5 самых дорогих брендов — анализ </a:t>
            </a:r>
            <a:r>
              <a:rPr lang="ru-RU" dirty="0" err="1"/>
              <a:t>премиальности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Средняя цена и пробег по типу топлива — сравнение сегментов.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Сравнение цен на авто с малым и большим пробегом — подтверждение влияния износа.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Группировка по годам выпуска — оценка возрастной структуры парка.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Самые свежие и самые старые автомобили в базе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828569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DFF94-E70E-4658-AC72-3D36A459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14</a:t>
            </a:fld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29077C-5928-47CC-A241-4B57AA2D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36" y="211665"/>
            <a:ext cx="3157856" cy="227753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D12EC5B-ED30-48B5-B559-3FCFEC861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526" y="211665"/>
            <a:ext cx="7697274" cy="227753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148365-4C75-41C8-9F32-F0B3ACF3A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87" y="3652860"/>
            <a:ext cx="3157856" cy="220607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036E383-DB1B-4F65-B3F0-DDBAB2A0E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526" y="3020812"/>
            <a:ext cx="4384150" cy="283812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6AF221A-4A96-44C2-B1CF-C3E3194BF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059" y="2682146"/>
            <a:ext cx="3041741" cy="31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9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6A2D8-B40D-46FA-88AF-1717DE24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6525"/>
            <a:ext cx="10515600" cy="56620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Интерактивный </a:t>
            </a:r>
            <a:r>
              <a:rPr lang="ru-RU" sz="4000" dirty="0" err="1"/>
              <a:t>дашборд</a:t>
            </a:r>
            <a:r>
              <a:rPr lang="ru-RU" sz="4000" dirty="0"/>
              <a:t> (</a:t>
            </a:r>
            <a:r>
              <a:rPr lang="en-US" sz="4000" dirty="0"/>
              <a:t>Power BI)</a:t>
            </a:r>
            <a:endParaRPr lang="ru-BY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D44565-D37D-4B47-922A-31AB4719A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333" y="796397"/>
            <a:ext cx="11328400" cy="84613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Для визуализации ключевых показателей и зависимостей был разработан интерактивный </a:t>
            </a:r>
            <a:r>
              <a:rPr lang="ru-RU" dirty="0" err="1">
                <a:solidFill>
                  <a:schemeClr val="tx1"/>
                </a:solidFill>
              </a:rPr>
              <a:t>дашборд</a:t>
            </a:r>
            <a:r>
              <a:rPr lang="ru-RU" dirty="0">
                <a:solidFill>
                  <a:schemeClr val="tx1"/>
                </a:solidFill>
              </a:rPr>
              <a:t> в Power BI на основе очищенного </a:t>
            </a:r>
            <a:r>
              <a:rPr lang="ru-RU" dirty="0" err="1">
                <a:solidFill>
                  <a:schemeClr val="tx1"/>
                </a:solidFill>
              </a:rPr>
              <a:t>датасета</a:t>
            </a:r>
            <a:r>
              <a:rPr lang="ru-RU" dirty="0">
                <a:solidFill>
                  <a:schemeClr val="tx1"/>
                </a:solidFill>
              </a:rPr>
              <a:t>.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3A550A-CA0B-4C44-BB67-F009E5A9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15</a:t>
            </a:fld>
            <a:endParaRPr lang="ru-B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B3C97-76A8-4245-9BDB-FE4188A0BCF5}"/>
              </a:ext>
            </a:extLst>
          </p:cNvPr>
          <p:cNvSpPr txBox="1"/>
          <p:nvPr/>
        </p:nvSpPr>
        <p:spPr>
          <a:xfrm>
            <a:off x="8525933" y="1666003"/>
            <a:ext cx="328506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err="1"/>
              <a:t>Дашборд</a:t>
            </a:r>
            <a:r>
              <a:rPr lang="ru-RU" sz="1400" b="1" dirty="0"/>
              <a:t> содержит: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KPI-карточки: средняя цена, средний пробег, количество автомобилей.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Столбчатая диаграмма: средняя рыночная цена в разрезе брендов (от люксовых до бюджетных).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Круговая диаграмма: структура выборки по наличию/отсутствию аварий в истории (</a:t>
            </a:r>
            <a:r>
              <a:rPr lang="ru-RU" sz="1400" dirty="0" err="1"/>
              <a:t>accident</a:t>
            </a:r>
            <a:r>
              <a:rPr lang="ru-RU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Точечные график: Зависимость цены от пробега с группировкой по брендам.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Точечные график: Распределение средней стоимости по типам топлива (</a:t>
            </a:r>
            <a:r>
              <a:rPr lang="ru-RU" sz="1400" dirty="0" err="1"/>
              <a:t>fuel_type</a:t>
            </a:r>
            <a:r>
              <a:rPr lang="ru-RU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Интерактивные фильтры (срезы): панель фильтрации по бренду, типу топлива и году выпуска для углубленного анализа.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C784494-63EB-445A-894D-AAA40943C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7" y="1573988"/>
            <a:ext cx="8525933" cy="47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16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199C9-B528-4CD9-A024-D3AB398FC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59"/>
            <a:ext cx="10515600" cy="576791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Управление версиями проекта (</a:t>
            </a:r>
            <a:r>
              <a:rPr lang="ru-RU" sz="4000" dirty="0" err="1"/>
              <a:t>Git</a:t>
            </a:r>
            <a:r>
              <a:rPr lang="ru-RU" sz="4000" dirty="0"/>
              <a:t> / </a:t>
            </a:r>
            <a:r>
              <a:rPr lang="ru-RU" sz="4000" dirty="0" err="1"/>
              <a:t>GitHub</a:t>
            </a:r>
            <a:r>
              <a:rPr lang="ru-RU" sz="4000" dirty="0"/>
              <a:t>)</a:t>
            </a:r>
            <a:endParaRPr lang="ru-BY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FDAB19-1EE7-4B20-86D1-45750C986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68350"/>
            <a:ext cx="10515600" cy="1331383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Все файлы проекта (код, таблицы с данными, итоговый файл с графиками и расчетами) были сохранены на платформе </a:t>
            </a:r>
            <a:r>
              <a:rPr lang="ru-RU" dirty="0" err="1">
                <a:solidFill>
                  <a:schemeClr val="tx1"/>
                </a:solidFill>
              </a:rPr>
              <a:t>GitHub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ru-RU" dirty="0">
                <a:solidFill>
                  <a:schemeClr val="tx1"/>
                </a:solidFill>
              </a:rPr>
              <a:t>Это позволяет отслеживать историю изменений (</a:t>
            </a:r>
            <a:r>
              <a:rPr lang="ru-RU" dirty="0" err="1">
                <a:solidFill>
                  <a:schemeClr val="tx1"/>
                </a:solidFill>
              </a:rPr>
              <a:t>git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commits</a:t>
            </a:r>
            <a:r>
              <a:rPr lang="ru-RU" dirty="0">
                <a:solidFill>
                  <a:schemeClr val="tx1"/>
                </a:solidFill>
              </a:rPr>
              <a:t>) и гарантирует, что работа выполнена прозрачно и аккуратно.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88B720-A2A8-4F9D-AB31-7A36FABC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16</a:t>
            </a:fld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BCCB69-FEA3-44D5-847A-371E5E9C3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9733"/>
            <a:ext cx="7406745" cy="39442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9EC9F3-82ED-40FE-AF9D-9315CADDCBD0}"/>
              </a:ext>
            </a:extLst>
          </p:cNvPr>
          <p:cNvSpPr txBox="1"/>
          <p:nvPr/>
        </p:nvSpPr>
        <p:spPr>
          <a:xfrm>
            <a:off x="1844145" y="5987534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https://github.com/Alex-K-90/car-price-prediction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634494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19551-14D3-4B96-A221-CC66D25C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3200"/>
            <a:ext cx="10515600" cy="56514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Заключение</a:t>
            </a:r>
            <a:endParaRPr lang="ru-BY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DAABF1-A00B-4CFF-B9CB-6D8415166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768349"/>
            <a:ext cx="10515600" cy="5403851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В ходе выполнения курсового проекта был выполнен полный цикл анализа данных и машинного обучения: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/>
                </a:solidFill>
              </a:rPr>
              <a:t>Разведочный анализ (EDA): выявлены ключевые факторы, влияющие на стоимость автомобиля (пробег, возраст, бренд). Построены гистограммы распределений.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/>
                </a:solidFill>
              </a:rPr>
              <a:t>Предобработка данных: выполнена очистка от символов, заполнение пропусков, создан новый признак (объем двигателя) и удалены статистические выбросы.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/>
                </a:solidFill>
              </a:rPr>
              <a:t>Обучение моделей: сравнены 3 алгоритма (</a:t>
            </a:r>
            <a:r>
              <a:rPr lang="en-US" dirty="0">
                <a:solidFill>
                  <a:schemeClr val="tx1"/>
                </a:solidFill>
              </a:rPr>
              <a:t>Linear Regression, Decision Tree, Random Forest). </a:t>
            </a:r>
            <a:r>
              <a:rPr lang="ru-RU" dirty="0">
                <a:solidFill>
                  <a:schemeClr val="tx1"/>
                </a:solidFill>
              </a:rPr>
              <a:t>Лучший результат показал </a:t>
            </a:r>
            <a:r>
              <a:rPr lang="en-US" dirty="0">
                <a:solidFill>
                  <a:schemeClr val="tx1"/>
                </a:solidFill>
              </a:rPr>
              <a:t>Random Forest (R² = 0.8031, MAE = $8,481).</a:t>
            </a:r>
            <a:endParaRPr lang="ru-RU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/>
                </a:solidFill>
              </a:rPr>
              <a:t>Инженерная инфраструктура: данные загружены в SQL-базу, написаны аналитические запросы. Разработан BI-</a:t>
            </a:r>
            <a:r>
              <a:rPr lang="ru-RU" dirty="0" err="1">
                <a:solidFill>
                  <a:schemeClr val="tx1"/>
                </a:solidFill>
              </a:rPr>
              <a:t>дашборд</a:t>
            </a:r>
            <a:r>
              <a:rPr lang="ru-RU" dirty="0">
                <a:solidFill>
                  <a:schemeClr val="tx1"/>
                </a:solidFill>
              </a:rPr>
              <a:t> в Power BI.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/>
                </a:solidFill>
              </a:rPr>
              <a:t>Управление версиями: проект опубликован на </a:t>
            </a:r>
            <a:r>
              <a:rPr lang="ru-RU" dirty="0" err="1">
                <a:solidFill>
                  <a:schemeClr val="tx1"/>
                </a:solidFill>
              </a:rPr>
              <a:t>GitHub</a:t>
            </a:r>
            <a:r>
              <a:rPr lang="ru-RU" dirty="0">
                <a:solidFill>
                  <a:schemeClr val="tx1"/>
                </a:solidFill>
              </a:rPr>
              <a:t> с историей коммитов.</a:t>
            </a:r>
            <a:endParaRPr lang="ru-BY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825EAE-9A0A-4B1B-BE92-EB3D8BB54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17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31129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0392E-9F0D-4EA8-A9C0-D069A14C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8329"/>
            <a:ext cx="10515600" cy="51699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Пути масштабирования и развития проекта</a:t>
            </a:r>
            <a:endParaRPr lang="ru-BY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F6D31-FE2C-493C-B65A-FA4544CDD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787929"/>
            <a:ext cx="10515600" cy="5257271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Несмотря на достигнутые результаты, проект имеет потенциал для дальнейшего развития: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BY" b="0" i="0" dirty="0">
                <a:solidFill>
                  <a:srgbClr val="F9FAFB"/>
                </a:solidFill>
                <a:effectLst/>
                <a:latin typeface="quote-cjk-patch"/>
              </a:rPr>
              <a:t>📦</a:t>
            </a:r>
            <a:r>
              <a:rPr lang="ru-RU" b="0" i="0" dirty="0">
                <a:solidFill>
                  <a:schemeClr val="tx1"/>
                </a:solidFill>
                <a:effectLst/>
              </a:rPr>
              <a:t>Расширение </a:t>
            </a:r>
            <a:r>
              <a:rPr lang="ru-RU" b="0" i="0" dirty="0" err="1">
                <a:solidFill>
                  <a:schemeClr val="tx1"/>
                </a:solidFill>
                <a:effectLst/>
              </a:rPr>
              <a:t>датасета</a:t>
            </a:r>
            <a:r>
              <a:rPr lang="ru-RU" b="0" i="0" dirty="0">
                <a:solidFill>
                  <a:schemeClr val="tx1"/>
                </a:solidFill>
                <a:effectLst/>
              </a:rPr>
              <a:t>: включение в анализ дополнительных факторов, таких как регион продажи, цвет автомобиля, рыночная цена новых аналогов, а также сезонность продаж.</a:t>
            </a:r>
            <a:endParaRPr lang="en-US" b="0" i="0" dirty="0">
              <a:solidFill>
                <a:schemeClr val="tx1"/>
              </a:solidFill>
              <a:effectLst/>
            </a:endParaRPr>
          </a:p>
          <a:p>
            <a:r>
              <a:rPr lang="ru-RU" dirty="0">
                <a:solidFill>
                  <a:schemeClr val="tx1"/>
                </a:solidFill>
                <a:ea typeface="Segoe UI Symbol" panose="020B0502040204020203" pitchFamily="34" charset="0"/>
              </a:rPr>
              <a:t>⚙️ Усложнение модели: Тестирование более сложных ансамблевых методов (например, </a:t>
            </a:r>
            <a:r>
              <a:rPr lang="ru-RU" dirty="0" err="1">
                <a:solidFill>
                  <a:schemeClr val="tx1"/>
                </a:solidFill>
                <a:ea typeface="Segoe UI Symbol" panose="020B0502040204020203" pitchFamily="34" charset="0"/>
              </a:rPr>
              <a:t>XGBoost</a:t>
            </a:r>
            <a:r>
              <a:rPr lang="ru-RU" dirty="0">
                <a:solidFill>
                  <a:schemeClr val="tx1"/>
                </a:solidFill>
                <a:ea typeface="Segoe UI Symbol" panose="020B0502040204020203" pitchFamily="34" charset="0"/>
              </a:rPr>
              <a:t> или </a:t>
            </a:r>
            <a:r>
              <a:rPr lang="ru-RU" dirty="0" err="1">
                <a:solidFill>
                  <a:schemeClr val="tx1"/>
                </a:solidFill>
                <a:ea typeface="Segoe UI Symbol" panose="020B0502040204020203" pitchFamily="34" charset="0"/>
              </a:rPr>
              <a:t>LightGBM</a:t>
            </a:r>
            <a:r>
              <a:rPr lang="ru-RU" dirty="0">
                <a:solidFill>
                  <a:schemeClr val="tx1"/>
                </a:solidFill>
                <a:ea typeface="Segoe UI Symbol" panose="020B0502040204020203" pitchFamily="34" charset="0"/>
              </a:rPr>
              <a:t>), которые могут повысить точность предсказаний.</a:t>
            </a:r>
            <a:endParaRPr lang="en-US" dirty="0">
              <a:solidFill>
                <a:schemeClr val="tx1"/>
              </a:solidFill>
              <a:ea typeface="Segoe UI Symbol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ea typeface="Segoe UI Symbol" panose="020B0502040204020203" pitchFamily="34" charset="0"/>
              </a:rPr>
              <a:t>🤖 Внедрение в реальный бизнес: Интеграция модели в веб-сервис в виде простого интерфейса (например, Telegram-бот или приложение), где пользователь вводит характеристики авто и получает мгновенную оценку его рыночной стоимости.</a:t>
            </a:r>
            <a:endParaRPr lang="en-US" dirty="0">
              <a:solidFill>
                <a:schemeClr val="tx1"/>
              </a:solidFill>
              <a:ea typeface="Segoe UI Symbol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ea typeface="Segoe UI Symbol" panose="020B0502040204020203" pitchFamily="34" charset="0"/>
              </a:rPr>
              <a:t>🔄 Автоматизация: Настройка автоматического обновления модели и </a:t>
            </a:r>
            <a:r>
              <a:rPr lang="ru-RU" dirty="0" err="1">
                <a:solidFill>
                  <a:schemeClr val="tx1"/>
                </a:solidFill>
                <a:ea typeface="Segoe UI Symbol" panose="020B0502040204020203" pitchFamily="34" charset="0"/>
              </a:rPr>
              <a:t>дашборда</a:t>
            </a:r>
            <a:r>
              <a:rPr lang="ru-RU">
                <a:solidFill>
                  <a:schemeClr val="tx1"/>
                </a:solidFill>
                <a:ea typeface="Segoe UI Symbol" panose="020B0502040204020203" pitchFamily="34" charset="0"/>
              </a:rPr>
              <a:t> при поступлении новых данных.</a:t>
            </a:r>
            <a:endParaRPr lang="ru-BY" dirty="0">
              <a:solidFill>
                <a:schemeClr val="tx1"/>
              </a:solidFill>
              <a:ea typeface="Segoe UI Symbol" panose="020B0502040204020203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B276BB-5A8F-4315-B9D9-07B88176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C0032-643D-4737-BE36-3D4D0BE7EA05}" type="slidenum">
              <a:rPr lang="ru-BY" smtClean="0"/>
              <a:t>18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097262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2060</Words>
  <Application>Microsoft Office PowerPoint</Application>
  <PresentationFormat>Широкоэкранный</PresentationFormat>
  <Paragraphs>157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quote-cjk-patch</vt:lpstr>
      <vt:lpstr>Segoe UI</vt:lpstr>
      <vt:lpstr>Segoe UI Semibold</vt:lpstr>
      <vt:lpstr>Wingdings</vt:lpstr>
      <vt:lpstr>Тема Office</vt:lpstr>
      <vt:lpstr>Специальное оформление</vt:lpstr>
      <vt:lpstr>Анализ ключевых факторов, влияющих на стоимость подержанных автомобилей: проверка гипотез и визуализация данных</vt:lpstr>
      <vt:lpstr>Описание исходных данных</vt:lpstr>
      <vt:lpstr>Мы выдвигаем и проверяем следующие исследовательские гипотезы:</vt:lpstr>
      <vt:lpstr>Презентация PowerPoint</vt:lpstr>
      <vt:lpstr>Предобработка данных</vt:lpstr>
      <vt:lpstr>Влияние пробега на цену зависит от бренда</vt:lpstr>
      <vt:lpstr>Электромобили имеют: </vt:lpstr>
      <vt:lpstr>Презентация PowerPoint</vt:lpstr>
      <vt:lpstr>Презентация PowerPoint</vt:lpstr>
      <vt:lpstr>Презентация PowerPoint</vt:lpstr>
      <vt:lpstr>Гипотеза №5: мощность двигателя влияет на стоимость автомобиля</vt:lpstr>
      <vt:lpstr>Презентация PowerPoint</vt:lpstr>
      <vt:lpstr>Реализация хранения данных (SQLite) и аналитические запросы</vt:lpstr>
      <vt:lpstr>Презентация PowerPoint</vt:lpstr>
      <vt:lpstr>Интерактивный дашборд (Power BI)</vt:lpstr>
      <vt:lpstr>Управление версиями проекта (Git / GitHub)</vt:lpstr>
      <vt:lpstr>Заключение</vt:lpstr>
      <vt:lpstr>Пути масштабирования и развития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рыночной стоимости автомобилей на основе технических характеристик</dc:title>
  <dc:creator>Alex K</dc:creator>
  <cp:lastModifiedBy>Alex K</cp:lastModifiedBy>
  <cp:revision>90</cp:revision>
  <dcterms:created xsi:type="dcterms:W3CDTF">2026-07-16T16:08:32Z</dcterms:created>
  <dcterms:modified xsi:type="dcterms:W3CDTF">2026-07-28T23:16:51Z</dcterms:modified>
</cp:coreProperties>
</file>